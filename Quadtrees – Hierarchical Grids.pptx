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A_FB52EAEC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57" r:id="rId4"/>
    <p:sldId id="259" r:id="rId5"/>
    <p:sldId id="262" r:id="rId6"/>
    <p:sldId id="263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448AD09-B512-C5C1-3321-088C5E8E818C}" name="Matan Kronfeld" initials="MK" userId="S::matan.kronfeld@live.biu.ac.il::e5f1689f-2a57-4563-adb7-8e192c332ef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modernComment_10A_FB52EAE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EF2210-475B-4650-84AF-66EF7225014E}" authorId="{A448AD09-B512-C5C1-3321-088C5E8E818C}" created="2025-11-30T19:14:09.10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216515308" sldId="266"/>
      <ac:spMk id="3" creationId="{65F955A5-E90B-E9E8-0903-187157108709}"/>
      <ac:txMk cp="233">
        <ac:context len="906" hash="2906664930"/>
      </ac:txMk>
    </ac:txMkLst>
    <p188:pos x="6108700" y="497898"/>
    <p188:txBody>
      <a:bodyPr/>
      <a:lstStyle/>
      <a:p>
        <a:r>
          <a:rPr lang="LID4096"/>
          <a:t>(i.e., it might correspond to a node in a quadtree).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AF9AF6-90D7-4283-A731-B3DEA2358136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73570-0987-4141-BF99-318FC70FB86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44104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73570-0987-4141-BF99-318FC70FB86E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9108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73570-0987-4141-BF99-318FC70FB86E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4961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C3A0B-B48D-BF93-5E1B-D788ADBB5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F03AFC-B442-BD80-BD28-17BFD713F8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15865-D3C2-AD9E-C82E-7B8D2E11F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A1B3E-DE1A-B5E0-7067-DCDF0BCB1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6F99F-7B33-A803-C0E5-2133FC37D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1246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5D34-6552-E847-AC99-739B28F0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EFB48-A141-AC08-9176-D1B3DB4FD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5144B-78A1-581C-134E-1DD15C74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D71A4-A0BB-ECFE-182B-EBFE2299C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12ABF-C3D5-8010-3470-366549B99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06606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A2929-3323-DB6D-9BB1-E2880248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F55CBB-6641-912D-2B93-90A1A5C4A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71363-8F15-C793-6FD6-37077BDB1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E0B7-932D-71BE-7A95-EDBC29DE8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BFB3C-90AE-C1B1-00B2-3AA7C615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2393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26182-2D6F-5441-2125-FC9F2CBC9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E0135-AD67-39DD-F555-1793258666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34076C-976C-745F-343D-51967FBC7D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076AE-86B1-BB74-810B-C10E9BFBA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F875F-BB60-6069-4596-013BDDDDC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04013-F9E6-3907-C4F2-1F8221034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32158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7041-82A9-B515-2299-524CAC956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2CE0C-C0BF-D805-ED51-0AE401F5C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BE3A0-B37D-5C6B-1745-2050A82418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D79EA-1D77-5622-E483-797B8FD7F3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C69346-4558-3900-74AB-A5F9B63A36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731F91-AF30-B85C-8626-3DC8BEF94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27DA6D-6136-307B-66F2-BB35575E5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2CFFB3-36B4-A962-E5E6-552ED1E00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1064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C9472-BDEE-4426-6758-9FD31D799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AD9C-7A0F-A268-3DE0-AF321D557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7E7CF7-ED7D-51BF-3105-CB698A43D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C8176-495C-BF16-FEC1-0D0C1AFA8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237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67C1B9-7F96-50BA-D7EF-1F1543919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60660A-D438-4227-D8B2-9DE91933D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BA286-DE2B-4AB0-22AF-63949D7AF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4270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16810-F5CB-8688-1F86-E9DACECAB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C463-7DC7-18EC-BA96-0756972F1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C91718-C192-9058-DCD6-14B078040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EA9D5-8061-EEF8-9108-C01729971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3C08A0-F2D7-B7C8-5158-E266301E6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AB4D95-71C8-CD21-EA64-ADE3159F8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1157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36467-A429-CE7D-162B-E1D08D11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9E6FE5-A70E-2F84-DBAA-3208962F03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1DC759-6B22-0E1D-26E4-F812D02361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8F0703-DB63-C3C4-AEE7-06BC8D625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AB2D44-8780-D609-CEA5-72611D52F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B9D38-1229-412C-3E58-915E4538E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64849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C5E4-0D85-3191-CDE8-86F84A41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57F3CD-715E-3F50-0B06-9F951BBAD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AF5AD-ED57-E138-427B-743521DF6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5111E-D689-038F-A4D2-F0553029C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522F46-914F-3380-1190-BD78EDC66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8197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9ECDF6-1717-D6E9-DB18-880ACFCF9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2E4B1-2DC2-7739-BB42-83B46F221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10FEB-374B-6859-C4D3-F05D2669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DD31-5D41-D664-3E9D-FADF9C2C5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D50A3-E80B-34F8-F4A6-3F67C0FD0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328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39C20F-3F7F-706D-566A-9717D6FC1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CBCA27-4447-0A61-19DC-027125EB60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D3758-4684-6877-E7B6-13E45EE724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57813-4F54-43A3-96DC-1E841B6AD695}" type="datetimeFigureOut">
              <a:rPr lang="LID4096" smtClean="0"/>
              <a:t>12/01/2025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05BDF-60DD-4C26-DD28-551C2536F1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6D8DB-8987-5CC0-A42B-7EDE07746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E9039B-C5BA-406C-8A6C-892F9B2CADD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256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A_FB52EAEC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3A9B9-FCC4-6D5B-73A2-186D6DD2C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/>
          <a:lstStyle/>
          <a:p>
            <a:r>
              <a:rPr lang="en-US" dirty="0"/>
              <a:t>Quadtrees – Hierarchical Grids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54A3E2-674B-954E-1A73-783E2E5EB0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9639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AC143-EF47-6F1B-97D5-D663653ED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06" y="197976"/>
            <a:ext cx="6270523" cy="627933"/>
          </a:xfrm>
        </p:spPr>
        <p:txBody>
          <a:bodyPr>
            <a:normAutofit fontScale="90000"/>
          </a:bodyPr>
          <a:lstStyle/>
          <a:p>
            <a:r>
              <a:rPr lang="en-US" dirty="0"/>
              <a:t>Background…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037C7-59D4-2C42-7DA5-FE63FDE49C47}"/>
                  </a:ext>
                </a:extLst>
              </p:cNvPr>
              <p:cNvSpPr txBox="1"/>
              <p:nvPr/>
            </p:nvSpPr>
            <p:spPr>
              <a:xfrm>
                <a:off x="324465" y="1071716"/>
                <a:ext cx="8663671" cy="34492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ap</m:t>
                        </m:r>
                      </m:sub>
                    </m:sSub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/>
                  <a:t>be a planar map. To be more concrete,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ap</m:t>
                        </m:r>
                      </m:sub>
                    </m:sSub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/>
                  <a:t>a partition of the unit square into polygons.</a:t>
                </a:r>
              </a:p>
              <a:p>
                <a:endParaRPr lang="en-US" sz="2400" dirty="0"/>
              </a:p>
              <a:p>
                <a:r>
                  <a:rPr lang="en-US" sz="2400" b="1" dirty="0"/>
                  <a:t>Our goal </a:t>
                </a:r>
                <a:r>
                  <a:rPr lang="en-US" sz="2400" dirty="0"/>
                  <a:t>– We want to preprocess the maps for point location queries, so given a point p, quickly find which polygons contain it. Ther are numerous data-</a:t>
                </a:r>
                <a:r>
                  <a:rPr lang="en-US" sz="2400" dirty="0" err="1"/>
                  <a:t>sctructures</a:t>
                </a:r>
                <a:r>
                  <a:rPr lang="en-US" sz="2400" dirty="0"/>
                  <a:t> that can do it, let consider the following data structure.</a:t>
                </a:r>
                <a:endParaRPr lang="en-US" sz="2400" b="1" dirty="0"/>
              </a:p>
              <a:p>
                <a:endParaRPr lang="en-US" sz="2400" b="1" dirty="0"/>
              </a:p>
              <a:p>
                <a:endParaRPr lang="LID4096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037C7-59D4-2C42-7DA5-FE63FDE49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465" y="1071716"/>
                <a:ext cx="8663671" cy="3449214"/>
              </a:xfrm>
              <a:prstGeom prst="rect">
                <a:avLst/>
              </a:prstGeom>
              <a:blipFill>
                <a:blip r:embed="rId2"/>
                <a:stretch>
                  <a:fillRect l="-1056" t="-106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map of the united states&#10;&#10;AI-generated content may be incorrect.">
            <a:extLst>
              <a:ext uri="{FF2B5EF4-FFF2-40B4-BE49-F238E27FC236}">
                <a16:creationId xmlns:a16="http://schemas.microsoft.com/office/drawing/2014/main" id="{D6F0A2C7-E9AB-D1D8-3749-768245982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9682" y="825909"/>
            <a:ext cx="3017853" cy="303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193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A57FF-B528-5BDC-32B6-5F97048D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Quadtrees?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895B8-FAA7-672F-1F90-EC3E62AA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Quadtree, is a simple yet powerful geometric data-structure for representing planar maps. It is particularly useful for point-location queries, where we want to determine which region or polygon contains a given query point.</a:t>
            </a:r>
          </a:p>
        </p:txBody>
      </p:sp>
    </p:spTree>
    <p:extLst>
      <p:ext uri="{BB962C8B-B14F-4D97-AF65-F5344CB8AC3E}">
        <p14:creationId xmlns:p14="http://schemas.microsoft.com/office/powerpoint/2010/main" val="884899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82086-4D52-760E-2583-43C24E8D9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Point-Location Problem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21460F-C4F6-67EC-5E43-A1BF2E902A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9566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Formally,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𝑚𝑎𝑝</m:t>
                        </m:r>
                      </m:sub>
                    </m:sSub>
                  </m:oMath>
                </a14:m>
                <a:r>
                  <a:rPr lang="he-IL" dirty="0"/>
                  <a:t> </a:t>
                </a:r>
                <a:r>
                  <a:rPr lang="en-US" dirty="0"/>
                  <a:t>be a </a:t>
                </a:r>
                <a:r>
                  <a:rPr lang="en-US" i="1" dirty="0"/>
                  <a:t>planar map</a:t>
                </a:r>
                <a:r>
                  <a:rPr lang="en-US" dirty="0"/>
                  <a:t> - that is, a partition of the </a:t>
                </a:r>
                <a:r>
                  <a:rPr lang="en-US" b="1" dirty="0"/>
                  <a:t>unit square </a:t>
                </a:r>
                <a:r>
                  <a:rPr lang="en-US" dirty="0"/>
                  <a:t>into a finite set of non-overlapping polygons.</a:t>
                </a:r>
              </a:p>
              <a:p>
                <a:pPr marL="0" indent="0">
                  <a:buNone/>
                </a:pPr>
                <a:r>
                  <a:rPr lang="en-US" dirty="0"/>
                  <a:t>For simplicity, we’ll assume each point belongs to a constant number of polygons (one point can’t belong to too many polygons).</a:t>
                </a:r>
              </a:p>
              <a:p>
                <a:pPr marL="0" indent="0">
                  <a:buNone/>
                </a:pPr>
                <a:r>
                  <a:rPr lang="en-US" dirty="0"/>
                  <a:t>The goal is to preprocess</a:t>
                </a:r>
                <a:r>
                  <a:rPr lang="he-IL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𝑚𝑎𝑝</m:t>
                        </m:r>
                      </m:sub>
                    </m:sSub>
                  </m:oMath>
                </a14:m>
                <a:r>
                  <a:rPr lang="en-US" dirty="0"/>
                  <a:t> so that, given a query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we can quickly find which polygon contains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21460F-C4F6-67EC-5E43-A1BF2E902A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9566"/>
                <a:ext cx="10515600" cy="4351338"/>
              </a:xfrm>
              <a:blipFill>
                <a:blip r:embed="rId3"/>
                <a:stretch>
                  <a:fillRect l="-1217" t="-2521" r="-179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C23B73C1-227D-0AC3-DE5D-FD609FF7D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173" y="4157599"/>
            <a:ext cx="2387289" cy="24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536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A997A-F842-C151-B347-3C8443ADB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Simple Solution - Construction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71E52B-A8B2-2C86-39C9-F1B0EE8FEA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Build a tree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dirty="0"/>
                  <a:t>, where every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dirty="0"/>
                  <a:t> corresponds to a cell</a:t>
                </a:r>
                <a:r>
                  <a:rPr lang="he-IL" dirty="0"/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□</a:t>
                </a:r>
                <a14:m>
                  <m:oMath xmlns:m="http://schemas.openxmlformats.org/officeDocument/2006/math">
                    <m:r>
                      <a:rPr lang="en-US" b="0" i="1" baseline="-2500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</m:oMath>
                </a14:m>
                <a:endParaRPr lang="en-US" b="0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/>
                  <a:t>the root corresponds to the unit square.</a:t>
                </a:r>
              </a:p>
              <a:p>
                <a:r>
                  <a:rPr lang="en-US" dirty="0"/>
                  <a:t>Each internal node has four children that correspond to the four equal sized squares formed by splitting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□</a:t>
                </a:r>
                <a14:m>
                  <m:oMath xmlns:m="http://schemas.openxmlformats.org/officeDocument/2006/math">
                    <m:r>
                      <a:rPr lang="en-US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by horizontal and vertical cuts</a:t>
                </a:r>
              </a:p>
              <a:p>
                <a:r>
                  <a:rPr lang="en-US" dirty="0"/>
                  <a:t>The </a:t>
                </a:r>
                <a:r>
                  <a:rPr lang="en-US" b="1" i="1" dirty="0"/>
                  <a:t>conflict list </a:t>
                </a:r>
                <a:r>
                  <a:rPr lang="en-US" dirty="0"/>
                  <a:t>of the square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□</a:t>
                </a:r>
                <a14:m>
                  <m:oMath xmlns:m="http://schemas.openxmlformats.org/officeDocument/2006/math">
                    <m:r>
                      <a:rPr lang="en-US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</m:oMath>
                </a14:m>
                <a:r>
                  <a:rPr lang="en-US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/>
                  <a:t>(i.e., the square associated with </a:t>
                </a:r>
                <a:r>
                  <a:rPr lang="en-US" i="1" dirty="0"/>
                  <a:t>v</a:t>
                </a:r>
                <a:r>
                  <a:rPr lang="en-US" dirty="0"/>
                  <a:t>) is a list of all the polygons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𝑚𝑎𝑝</m:t>
                        </m:r>
                      </m:sub>
                    </m:sSub>
                  </m:oMath>
                </a14:m>
                <a:r>
                  <a:rPr lang="en-US" dirty="0"/>
                  <a:t> that intersect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71E52B-A8B2-2C86-39C9-F1B0EE8FEA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8483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0F660-7716-7050-DB3C-084090C36A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3794"/>
                <a:ext cx="10515600" cy="581316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Recursive Construction</a:t>
                </a:r>
              </a:p>
              <a:p>
                <a:r>
                  <a:rPr lang="en-US" sz="2000" dirty="0"/>
                  <a:t>Start at the root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𝑟𝑜𝑜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sz="2000" i="1" dirty="0">
                    <a:latin typeface="Cambria Math" panose="02040503050406030204" pitchFamily="18" charset="0"/>
                  </a:rPr>
                  <a:t>)</a:t>
                </a:r>
                <a:endParaRPr lang="en-US" sz="2000" dirty="0"/>
              </a:p>
              <a:p>
                <a:r>
                  <a:rPr lang="en-US" sz="2000" dirty="0"/>
                  <a:t>Compute the conflict list for the current node from its parent’s list.</a:t>
                </a:r>
              </a:p>
              <a:p>
                <a:r>
                  <a:rPr lang="en-US" sz="2000" dirty="0"/>
                  <a:t>Termination Condition: If the conflict list size is small (e.g.,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en-US" sz="2000" dirty="0"/>
                  <a:t> polygons), stop. This node becomes a leaf.</a:t>
                </a:r>
              </a:p>
              <a:p>
                <a:r>
                  <a:rPr lang="en-US" sz="2000" dirty="0"/>
                  <a:t>Otherwise, split the node into four children and recurse.</a:t>
                </a:r>
              </a:p>
              <a:p>
                <a:r>
                  <a:rPr lang="en-US" sz="2000" i="1" dirty="0"/>
                  <a:t>Note: </a:t>
                </a:r>
                <a:r>
                  <a:rPr lang="en-US" sz="2000" dirty="0"/>
                  <a:t>We only store the actual conflict lists at the leaves to save space, by deleting the parent’s list after processing its children.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Point-Location Query:</a:t>
                </a:r>
              </a:p>
              <a:p>
                <a:pPr marL="0" indent="0">
                  <a:buNone/>
                </a:pPr>
                <a:r>
                  <a:rPr lang="en-US" sz="2000" dirty="0"/>
                  <a:t>To identify the polygon containing a query point :</a:t>
                </a:r>
              </a:p>
              <a:p>
                <a:r>
                  <a:rPr lang="en-US" sz="2000" dirty="0"/>
                  <a:t>Start at the root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Traverse down the tree, iteratively moving to the child node whose quadrant contains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(Note that this can be done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Terminate upon reaching a </a:t>
                </a:r>
                <a:r>
                  <a:rPr lang="en-US" sz="2000" b="1" dirty="0"/>
                  <a:t>leaf</a:t>
                </a:r>
                <a:r>
                  <a:rPr lang="en-US" sz="2000" dirty="0"/>
                  <a:t>.</a:t>
                </a:r>
              </a:p>
              <a:p>
                <a:r>
                  <a:rPr lang="en-US" sz="2000" dirty="0"/>
                  <a:t>Scan the leaf's </a:t>
                </a:r>
                <a:r>
                  <a:rPr lang="en-US" sz="2000" b="1" dirty="0"/>
                  <a:t>conflict list</a:t>
                </a:r>
                <a:r>
                  <a:rPr lang="en-US" sz="2000" dirty="0"/>
                  <a:t> to identify the specific polygon containing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(And this takes also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000" dirty="0"/>
                  <a:t> time.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0F660-7716-7050-DB3C-084090C36A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3794"/>
                <a:ext cx="10515600" cy="5813169"/>
              </a:xfrm>
              <a:blipFill>
                <a:blip r:embed="rId2"/>
                <a:stretch>
                  <a:fillRect l="-638" t="-1469" r="-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4499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p of united states with red and green squares&#10;&#10;AI-generated content may be incorrect.">
            <a:extLst>
              <a:ext uri="{FF2B5EF4-FFF2-40B4-BE49-F238E27FC236}">
                <a16:creationId xmlns:a16="http://schemas.microsoft.com/office/drawing/2014/main" id="{5317C083-375E-D396-F54E-EA83A3D82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10401" y="484606"/>
            <a:ext cx="4506430" cy="45278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13A62F-CCFF-D568-F7AB-0DDEE00FF56C}"/>
              </a:ext>
            </a:extLst>
          </p:cNvPr>
          <p:cNvSpPr txBox="1"/>
          <p:nvPr/>
        </p:nvSpPr>
        <p:spPr>
          <a:xfrm>
            <a:off x="93518" y="484606"/>
            <a:ext cx="673713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Space Complexity Analysis:</a:t>
            </a:r>
          </a:p>
          <a:p>
            <a:r>
              <a:rPr lang="en-US" b="1" dirty="0"/>
              <a:t>Worst Case: </a:t>
            </a:r>
            <a:r>
              <a:rPr lang="en-US" dirty="0"/>
              <a:t>If polygons are "long and skinny," they may intersect many squares without being fully contained. This can lead to a tree of unbounded depth and complexity.</a:t>
            </a:r>
          </a:p>
          <a:p>
            <a:r>
              <a:rPr lang="en-US" b="1" dirty="0"/>
              <a:t>reasonable Input: </a:t>
            </a:r>
            <a:r>
              <a:rPr lang="en-US" dirty="0"/>
              <a:t>- for reasonable inputs, the complexity of the quadtree will be linear in the size of the input (a proof for fat triangles polygons is shown at the end)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8019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F955A5-E90B-E9E8-0903-1871571087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11727"/>
                <a:ext cx="10515600" cy="5865236"/>
              </a:xfr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Fast point-location query in a quadtree</a:t>
                </a:r>
              </a:p>
              <a:p>
                <a:pPr marL="0" indent="0">
                  <a:buNone/>
                </a:pPr>
                <a:r>
                  <a:rPr lang="en-US" sz="2000" dirty="0"/>
                  <a:t>An algorithm for fast query in regular quadtree: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Definition </a:t>
                </a:r>
                <a:r>
                  <a:rPr lang="en-US" sz="2000" dirty="0"/>
                  <a:t>- A square is a </a:t>
                </a:r>
                <a:r>
                  <a:rPr lang="en-US" sz="2000" b="1" dirty="0"/>
                  <a:t>canonical square </a:t>
                </a:r>
                <a:r>
                  <a:rPr lang="en-US" sz="2000" dirty="0"/>
                  <a:t>if it is contained inside the unit square; it is a cell in a grid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000" dirty="0"/>
                  <a:t> is a power of two. We will refer to such a grid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000" dirty="0"/>
                  <a:t> as a canonical grid.</a:t>
                </a:r>
              </a:p>
              <a:p>
                <a:pPr marL="0" indent="0">
                  <a:buNone/>
                </a:pPr>
                <a:r>
                  <a:rPr lang="en-US" sz="2000" dirty="0"/>
                  <a:t>Consider a node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of a quadtree of depth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 (the root has depth 0) and its associated square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□</a:t>
                </a:r>
                <a14:m>
                  <m:oMath xmlns:m="http://schemas.openxmlformats.org/officeDocument/2006/math">
                    <m:r>
                      <a:rPr lang="en-US" sz="2000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</m:oMath>
                </a14:m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sz="2000" dirty="0"/>
                  <a:t>The side length of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□</a:t>
                </a:r>
                <a14:m>
                  <m:oMath xmlns:m="http://schemas.openxmlformats.org/officeDocument/2006/math">
                    <m:r>
                      <a:rPr lang="en-US" sz="2000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</m:oMath>
                </a14:m>
                <a:r>
                  <a:rPr lang="en-US" sz="2000" dirty="0"/>
                  <a:t>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000" b="0" dirty="0"/>
                  <a:t>, and it is a canonical square inside a canonical grid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000" b="0" dirty="0"/>
                  <a:t>. We will refer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b="0" dirty="0"/>
                  <a:t> as the </a:t>
                </a:r>
                <a:r>
                  <a:rPr lang="en-US" sz="2000" b="0" i="1" dirty="0"/>
                  <a:t>level</a:t>
                </a:r>
                <a:r>
                  <a:rPr lang="en-US" sz="2000" b="0" dirty="0"/>
                  <a:t>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. </a:t>
                </a:r>
              </a:p>
              <a:p>
                <a:pPr marL="0" indent="0">
                  <a:buNone/>
                </a:pPr>
                <a:r>
                  <a:rPr lang="en-US" sz="2000" b="0" dirty="0"/>
                  <a:t>We’ll </a:t>
                </a:r>
                <a:r>
                  <a:rPr lang="en-US" sz="2000" dirty="0"/>
                  <a:t>make a unique ID for each node by the following triple:</a:t>
                </a:r>
              </a:p>
              <a:p>
                <a:pPr marL="0" indent="0">
                  <a:buNone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𝒊𝒅</m:t>
                    </m:r>
                    <m:d>
                      <m:d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sz="2000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⌊"/>
                            <m:endChr m:val="⌋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m:rPr>
                                <m:lit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⌊"/>
                            <m:endChr m:val="⌋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m:rPr>
                                <m:lit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𝑒𝑟𝑒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𝑎𝑛𝑦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𝑝𝑜𝑖𝑛𝑡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𝑖𝑛</m:t>
                    </m:r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□</m:t>
                    </m:r>
                    <m:r>
                      <a:rPr lang="en-US" sz="2000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sz="2000" b="0" dirty="0"/>
                  <a:t> (i.e.,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000" b="0" dirty="0"/>
                  <a:t> is the side length of the squares correspond to all the nodes at level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2000" b="0" dirty="0"/>
                  <a:t>.</a:t>
                </a:r>
              </a:p>
              <a:p>
                <a:pPr marL="0" indent="0">
                  <a:buNone/>
                </a:pPr>
                <a:r>
                  <a:rPr lang="en-US" sz="2000" dirty="0"/>
                  <a:t>Notice that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2000" b="0" dirty="0"/>
                  <a:t> represents the depth,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lit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000" b="0" dirty="0"/>
                  <a:t> represents the row, and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m:rPr>
                            <m:lit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000" b="0" dirty="0"/>
                  <a:t> represents the column.</a:t>
                </a:r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F955A5-E90B-E9E8-0903-1871571087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11727"/>
                <a:ext cx="10515600" cy="5865236"/>
              </a:xfrm>
              <a:blipFill>
                <a:blip r:embed="rId3"/>
                <a:stretch>
                  <a:fillRect l="-638" t="-936" r="-2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51530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0D2F8A3B-533A-FE5A-F06F-E9B8897A2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0" t="18346" r="66724" b="14921"/>
          <a:stretch>
            <a:fillRect/>
          </a:stretch>
        </p:blipFill>
        <p:spPr>
          <a:xfrm>
            <a:off x="38133" y="1808595"/>
            <a:ext cx="3799475" cy="3819578"/>
          </a:xfrm>
          <a:prstGeom prst="rect">
            <a:avLst/>
          </a:prstGeom>
        </p:spPr>
      </p:pic>
      <p:pic>
        <p:nvPicPr>
          <p:cNvPr id="11" name="Picture 10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451BB24E-F7B6-1BFF-626A-AE72DF501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52" t="17994" b="15097"/>
          <a:stretch>
            <a:fillRect/>
          </a:stretch>
        </p:blipFill>
        <p:spPr>
          <a:xfrm>
            <a:off x="8264114" y="1808543"/>
            <a:ext cx="3889753" cy="3819579"/>
          </a:xfrm>
          <a:prstGeom prst="rect">
            <a:avLst/>
          </a:prstGeom>
        </p:spPr>
      </p:pic>
      <p:pic>
        <p:nvPicPr>
          <p:cNvPr id="12" name="Picture 11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70040FEF-784D-B34F-32B1-E1A07B3E22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65" t="17907" r="33663" b="15184"/>
          <a:stretch>
            <a:fillRect/>
          </a:stretch>
        </p:blipFill>
        <p:spPr>
          <a:xfrm>
            <a:off x="4196263" y="1808595"/>
            <a:ext cx="3799474" cy="38195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DF508DE-0926-17B4-74AF-702C1AD33861}"/>
              </a:ext>
            </a:extLst>
          </p:cNvPr>
          <p:cNvSpPr txBox="1"/>
          <p:nvPr/>
        </p:nvSpPr>
        <p:spPr>
          <a:xfrm>
            <a:off x="361318" y="744084"/>
            <a:ext cx="3153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Root – unit square (level 0)</a:t>
            </a:r>
            <a:endParaRPr lang="LID4096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9A6951-F84B-37C7-E2A5-293A4AE18929}"/>
              </a:ext>
            </a:extLst>
          </p:cNvPr>
          <p:cNvSpPr txBox="1"/>
          <p:nvPr/>
        </p:nvSpPr>
        <p:spPr>
          <a:xfrm>
            <a:off x="4519448" y="744084"/>
            <a:ext cx="3153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Children of the root (level -1)</a:t>
            </a:r>
            <a:endParaRPr lang="LID4096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A77674-7349-6978-ACE3-CE51161ED71B}"/>
              </a:ext>
            </a:extLst>
          </p:cNvPr>
          <p:cNvSpPr txBox="1"/>
          <p:nvPr/>
        </p:nvSpPr>
        <p:spPr>
          <a:xfrm>
            <a:off x="8562109" y="744084"/>
            <a:ext cx="3591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Grandchildren of the root (level -2)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5197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814836-5EC1-8757-99BA-4954064F9F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4802"/>
                <a:ext cx="10370574" cy="27137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Given a query point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b="0" dirty="0"/>
                  <a:t> and a level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000" b="0" dirty="0"/>
                  <a:t> we can comput</a:t>
                </a:r>
                <a:r>
                  <a:rPr lang="en-US" sz="2000" dirty="0"/>
                  <a:t>e the square at level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000" b="0" dirty="0"/>
                  <a:t> containing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b="0" dirty="0"/>
                  <a:t> 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000" b="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sz="2000" b="0" dirty="0"/>
                  <a:t>Let                                          denote the procedure that, in constant time, returns the node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000" b="0" dirty="0"/>
                  <a:t> of depth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000" b="0" dirty="0"/>
                  <a:t>,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is any point inside square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□</m:t>
                    </m:r>
                    <m:r>
                      <a:rPr lang="en-US" sz="2000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𝑣</m:t>
                    </m:r>
                    <m:r>
                      <a:rPr lang="en-US" sz="2000" i="1" baseline="-250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endParaRPr lang="en-US" sz="2000" b="0" dirty="0"/>
              </a:p>
              <a:p>
                <a:pPr marL="0" indent="0">
                  <a:buNone/>
                </a:pPr>
                <a:r>
                  <a:rPr lang="en-US" sz="2000" dirty="0"/>
                  <a:t>This suggest a natural algorithm point-location</a:t>
                </a:r>
                <a:r>
                  <a:rPr lang="en-US" sz="2000" b="0" dirty="0"/>
                  <a:t> in a quadtree:</a:t>
                </a:r>
              </a:p>
              <a:p>
                <a:r>
                  <a:rPr lang="en-US" sz="2000" b="0" dirty="0"/>
                  <a:t>Create a hash-table</a:t>
                </a:r>
                <a:r>
                  <a:rPr lang="en-US" sz="2000" dirty="0"/>
                  <a:t> storing </a:t>
                </a:r>
                <a:r>
                  <a:rPr lang="en-US" sz="2000" b="0" dirty="0"/>
                  <a:t>all the </a:t>
                </a:r>
                <a:r>
                  <a:rPr lang="en-US" sz="2000" dirty="0"/>
                  <a:t>IDs of nodes in the quadtree</a:t>
                </a:r>
              </a:p>
              <a:p>
                <a:r>
                  <a:rPr lang="en-US" sz="2000" dirty="0"/>
                  <a:t>Compute the maximal depth of the quadtree</a:t>
                </a:r>
              </a:p>
              <a:p>
                <a:pPr marL="0" indent="0">
                  <a:buNone/>
                </a:pPr>
                <a:r>
                  <a:rPr lang="en-US" sz="2000" dirty="0"/>
                  <a:t>We’ll use                                 shown in the left corner.</a:t>
                </a:r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814836-5EC1-8757-99BA-4954064F9F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4802"/>
                <a:ext cx="10370574" cy="2713702"/>
              </a:xfrm>
              <a:blipFill>
                <a:blip r:embed="rId3"/>
                <a:stretch>
                  <a:fillRect l="-647" t="-2697" b="-1798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78CA3AB4-2674-10F6-2E2C-1AB6EFAE1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618" y="2669458"/>
            <a:ext cx="1600989" cy="1917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A35F6A-E77D-C168-EB88-BCA74F17C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8508" y="782113"/>
            <a:ext cx="2033118" cy="225902"/>
          </a:xfrm>
          <a:prstGeom prst="rect">
            <a:avLst/>
          </a:prstGeom>
        </p:spPr>
      </p:pic>
      <p:pic>
        <p:nvPicPr>
          <p:cNvPr id="6" name="Picture 5" descr=" ">
            <a:extLst>
              <a:ext uri="{FF2B5EF4-FFF2-40B4-BE49-F238E27FC236}">
                <a16:creationId xmlns:a16="http://schemas.microsoft.com/office/drawing/2014/main" id="{3DCBB5BB-AA0A-0B06-4B38-99BC926DE8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922" t="8166" r="10551" b="5100"/>
          <a:stretch>
            <a:fillRect/>
          </a:stretch>
        </p:blipFill>
        <p:spPr>
          <a:xfrm>
            <a:off x="8042787" y="3224979"/>
            <a:ext cx="4041058" cy="29703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B41CD9-E36C-6381-8F52-7E800DC0FC02}"/>
                  </a:ext>
                </a:extLst>
              </p:cNvPr>
              <p:cNvSpPr txBox="1"/>
              <p:nvPr/>
            </p:nvSpPr>
            <p:spPr>
              <a:xfrm>
                <a:off x="825909" y="3224979"/>
                <a:ext cx="6735097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Like in binary search, we’ll run </a:t>
                </a:r>
              </a:p>
              <a:p>
                <a:r>
                  <a:rPr lang="en-US" sz="2000" dirty="0"/>
                  <a:t>with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b="0" dirty="0"/>
                  <a:t> level representing the median between the upper level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000" dirty="0"/>
                  <a:t>) and the lower level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000" b="0" dirty="0"/>
                  <a:t>)</a:t>
                </a:r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𝑛𝑢𝑙𝑙</m:t>
                    </m:r>
                  </m:oMath>
                </a14:m>
                <a:r>
                  <a:rPr lang="en-US" sz="2000" b="0" dirty="0"/>
                  <a:t> then we searched too deep, and the the leaf containing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has level </a:t>
                </a:r>
                <a:r>
                  <a:rPr lang="en-US" sz="2000" u="sng" dirty="0"/>
                  <a:t>lower </a:t>
                </a:r>
                <a:r>
                  <a:rPr lang="en-US" sz="2000" dirty="0"/>
                  <a:t>than l, so we’ll recurse with </a:t>
                </a:r>
              </a:p>
              <a:p>
                <a:r>
                  <a:rPr lang="en-US" sz="2000" dirty="0"/>
                  <a:t>                                      </a:t>
                </a:r>
              </a:p>
              <a:p>
                <a:r>
                  <a:rPr lang="en-US" sz="2000" b="0" dirty="0"/>
                  <a:t>Else, 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000" dirty="0"/>
                  <a:t> is a leaf then we’re done</a:t>
                </a:r>
              </a:p>
              <a:p>
                <a:r>
                  <a:rPr lang="en-US" sz="2000" b="0" dirty="0"/>
                  <a:t>Otherwise – we need </a:t>
                </a:r>
                <a:r>
                  <a:rPr lang="en-US" sz="2000" dirty="0"/>
                  <a:t>to search deeper, so we’ll recurse with</a:t>
                </a:r>
                <a:endParaRPr lang="en-US" sz="2000" b="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B41CD9-E36C-6381-8F52-7E800DC0F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09" y="3224979"/>
                <a:ext cx="6735097" cy="2554545"/>
              </a:xfrm>
              <a:prstGeom prst="rect">
                <a:avLst/>
              </a:prstGeom>
              <a:blipFill>
                <a:blip r:embed="rId7"/>
                <a:stretch>
                  <a:fillRect l="-905" t="-1193" r="-271" b="-334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401D6F58-B34F-9267-49F7-E4B0832E812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016" t="6572"/>
          <a:stretch>
            <a:fillRect/>
          </a:stretch>
        </p:blipFill>
        <p:spPr>
          <a:xfrm>
            <a:off x="4247029" y="3318926"/>
            <a:ext cx="2492984" cy="22014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F08827F-C41F-90DF-BC87-85CE446245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8478" y="4828754"/>
            <a:ext cx="2110361" cy="214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1F1A86A-2976-E80B-BEDC-362549523B8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76" t="-18684" b="-1"/>
          <a:stretch>
            <a:fillRect/>
          </a:stretch>
        </p:blipFill>
        <p:spPr>
          <a:xfrm>
            <a:off x="896405" y="5661970"/>
            <a:ext cx="2202426" cy="2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378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2212</TotalTime>
  <Words>895</Words>
  <Application>Microsoft Office PowerPoint</Application>
  <PresentationFormat>Widescreen</PresentationFormat>
  <Paragraphs>74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Quadtrees – Hierarchical Grids</vt:lpstr>
      <vt:lpstr>Background…</vt:lpstr>
      <vt:lpstr>What are Quadtrees?</vt:lpstr>
      <vt:lpstr>The Point-Location Problem</vt:lpstr>
      <vt:lpstr>The Simple Solution - Construction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Matan Kronfeld</dc:creator>
  <cp:lastModifiedBy>Matan Kronfeld</cp:lastModifiedBy>
  <cp:revision>28</cp:revision>
  <dcterms:created xsi:type="dcterms:W3CDTF">2025-10-30T11:42:56Z</dcterms:created>
  <dcterms:modified xsi:type="dcterms:W3CDTF">2025-12-01T15:28:27Z</dcterms:modified>
</cp:coreProperties>
</file>