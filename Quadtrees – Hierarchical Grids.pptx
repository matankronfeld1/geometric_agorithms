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7" r:id="rId4"/>
    <p:sldId id="259" r:id="rId5"/>
    <p:sldId id="262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F9AF6-90D7-4283-A731-B3DEA2358136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73570-0987-4141-BF99-318FC70FB86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410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73570-0987-4141-BF99-318FC70FB86E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910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3A0B-B48D-BF93-5E1B-D788ADBB5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03AFC-B442-BD80-BD28-17BFD713F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5865-D3C2-AD9E-C82E-7B8D2E11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A1B3E-DE1A-B5E0-7067-DCDF0BCB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F99F-7B33-A803-C0E5-2133FC37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124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5D34-6552-E847-AC99-739B28F0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FB48-A141-AC08-9176-D1B3DB4F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5144B-78A1-581C-134E-1DD15C74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71A4-A0BB-ECFE-182B-EBFE2299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12ABF-C3D5-8010-3470-366549B9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660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2929-3323-DB6D-9BB1-E2880248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55CBB-6641-912D-2B93-90A1A5C4A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71363-8F15-C793-6FD6-37077BDB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E0B7-932D-71BE-7A95-EDBC29DE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FB3C-90AE-C1B1-00B2-3AA7C615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239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6182-2D6F-5441-2125-FC9F2CBC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E0135-AD67-39DD-F555-179325866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4076C-976C-745F-343D-51967FBC7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076AE-86B1-BB74-810B-C10E9BFB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F875F-BB60-6069-4596-013BDDDD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04013-F9E6-3907-C4F2-1F822103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215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7041-82A9-B515-2299-524CAC956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CE0C-C0BF-D805-ED51-0AE401F5C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BE3A0-B37D-5C6B-1745-2050A8241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D79EA-1D77-5622-E483-797B8FD7F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69346-4558-3900-74AB-A5F9B63A3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31F91-AF30-B85C-8626-3DC8BEF9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7DA6D-6136-307B-66F2-BB35575E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CFFB3-36B4-A962-E5E6-552ED1E0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106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9472-BDEE-4426-6758-9FD31D79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AD9C-7A0F-A268-3DE0-AF321D55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E7CF7-ED7D-51BF-3105-CB698A43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C8176-495C-BF16-FEC1-0D0C1AFA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237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7C1B9-7F96-50BA-D7EF-1F154391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0660A-D438-4227-D8B2-9DE91933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BA286-DE2B-4AB0-22AF-63949D7A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427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6810-F5CB-8688-1F86-E9DACECA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C463-7DC7-18EC-BA96-0756972F1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91718-C192-9058-DCD6-14B078040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EA9D5-8061-EEF8-9108-C0172997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C08A0-F2D7-B7C8-5158-E266301E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B4D95-71C8-CD21-EA64-ADE3159F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115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6467-A429-CE7D-162B-E1D08D11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E6FE5-A70E-2F84-DBAA-3208962F0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DC759-6B22-0E1D-26E4-F812D0236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F0703-DB63-C3C4-AEE7-06BC8D62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B2D44-8780-D609-CEA5-72611D52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B9D38-1229-412C-3E58-915E4538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484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C5E4-0D85-3191-CDE8-86F84A41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7F3CD-715E-3F50-0B06-9F951BBAD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AF5AD-ED57-E138-427B-743521DF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5111E-D689-038F-A4D2-F0553029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22F46-914F-3380-1190-BD78EDC6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197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ECDF6-1717-D6E9-DB18-880ACFCF9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2E4B1-2DC2-7739-BB42-83B46F221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10FEB-374B-6859-C4D3-F05D2669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FDD31-5D41-D664-3E9D-FADF9C2C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50A3-E80B-34F8-F4A6-3F67C0FD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328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9C20F-3F7F-706D-566A-9717D6FC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BCA27-4447-0A61-19DC-027125EB6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D3758-4684-6877-E7B6-13E45EE72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57813-4F54-43A3-96DC-1E841B6AD695}" type="datetimeFigureOut">
              <a:rPr lang="LID4096" smtClean="0"/>
              <a:t>11/30/2025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5BDF-60DD-4C26-DD28-551C2536F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6D8DB-8987-5CC0-A42B-7EDE07746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9039B-C5BA-406C-8A6C-892F9B2CADD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25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A9B9-FCC4-6D5B-73A2-186D6DD2C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/>
          <a:lstStyle/>
          <a:p>
            <a:r>
              <a:rPr lang="en-US" dirty="0"/>
              <a:t>Quadtrees – Hierarchical Grids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4A3E2-674B-954E-1A73-783E2E5EB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963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C143-EF47-6F1B-97D5-D663653E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97976"/>
            <a:ext cx="6270523" cy="627933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Background…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A037C7-59D4-2C42-7DA5-FE63FDE49C47}"/>
                  </a:ext>
                </a:extLst>
              </p:cNvPr>
              <p:cNvSpPr txBox="1"/>
              <p:nvPr/>
            </p:nvSpPr>
            <p:spPr>
              <a:xfrm>
                <a:off x="324465" y="1071716"/>
                <a:ext cx="8663671" cy="3449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ap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be a planar map. To be more concrete,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ap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a partition of the unit square into polygons.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Our goal </a:t>
                </a:r>
                <a:r>
                  <a:rPr lang="en-US" sz="2400" dirty="0"/>
                  <a:t>– We want to preprocess the maps for point location queries, so given a point p, quickly find which polygons contain it. Ther are numerous data-</a:t>
                </a:r>
                <a:r>
                  <a:rPr lang="en-US" sz="2400" dirty="0" err="1"/>
                  <a:t>sctructures</a:t>
                </a:r>
                <a:r>
                  <a:rPr lang="en-US" sz="2400" dirty="0"/>
                  <a:t> that can do it, let consider the following data structure.</a:t>
                </a:r>
                <a:endParaRPr lang="en-US" sz="2400" b="1" dirty="0"/>
              </a:p>
              <a:p>
                <a:endParaRPr lang="en-US" sz="2400" b="1" dirty="0"/>
              </a:p>
              <a:p>
                <a:endParaRPr lang="LID4096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A037C7-59D4-2C42-7DA5-FE63FDE49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5" y="1071716"/>
                <a:ext cx="8663671" cy="3449214"/>
              </a:xfrm>
              <a:prstGeom prst="rect">
                <a:avLst/>
              </a:prstGeom>
              <a:blipFill>
                <a:blip r:embed="rId2"/>
                <a:stretch>
                  <a:fillRect l="-1056" t="-106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D6F0A2C7-E9AB-D1D8-3749-76824598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682" y="825909"/>
            <a:ext cx="3017853" cy="303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9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57FF-B528-5BDC-32B6-5F97048D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Quadtrees?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895B8-FAA7-672F-1F90-EC3E62AA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Quadtree, is a simple yet powerful geometric data-structure for representing planar maps. It is particularly useful for point-location queries, where we want to determine which region or polygon contains a given query point.</a:t>
            </a:r>
          </a:p>
        </p:txBody>
      </p:sp>
    </p:spTree>
    <p:extLst>
      <p:ext uri="{BB962C8B-B14F-4D97-AF65-F5344CB8AC3E}">
        <p14:creationId xmlns:p14="http://schemas.microsoft.com/office/powerpoint/2010/main" val="88489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2086-4D52-760E-2583-43C24E8D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Point-Location Problem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1460F-C4F6-67EC-5E43-A1BF2E902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956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Formally,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he-IL" dirty="0"/>
                  <a:t> </a:t>
                </a:r>
                <a:r>
                  <a:rPr lang="en-US" dirty="0"/>
                  <a:t>be a </a:t>
                </a:r>
                <a:r>
                  <a:rPr lang="en-US" i="1" dirty="0"/>
                  <a:t>planar map</a:t>
                </a:r>
                <a:r>
                  <a:rPr lang="en-US" dirty="0"/>
                  <a:t> - that is, a partition of the </a:t>
                </a:r>
                <a:r>
                  <a:rPr lang="en-US" b="1" dirty="0"/>
                  <a:t>unit square </a:t>
                </a:r>
                <a:r>
                  <a:rPr lang="en-US" dirty="0"/>
                  <a:t>into a finite set of non-overlapping polygons.</a:t>
                </a:r>
              </a:p>
              <a:p>
                <a:pPr marL="0" indent="0">
                  <a:buNone/>
                </a:pPr>
                <a:r>
                  <a:rPr lang="en-US" dirty="0"/>
                  <a:t>For simplicity, we’ll assume each point belongs to a constant number of polygons (one point can’t belong to too many polygons).</a:t>
                </a:r>
              </a:p>
              <a:p>
                <a:pPr marL="0" indent="0">
                  <a:buNone/>
                </a:pPr>
                <a:r>
                  <a:rPr lang="en-US" dirty="0"/>
                  <a:t>The goal is to preprocess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en-US" dirty="0"/>
                  <a:t> so that, given a query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we can quickly find which polygon contains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21460F-C4F6-67EC-5E43-A1BF2E902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9566"/>
                <a:ext cx="10515600" cy="4351338"/>
              </a:xfrm>
              <a:blipFill>
                <a:blip r:embed="rId3"/>
                <a:stretch>
                  <a:fillRect l="-1217" t="-2521" r="-17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C23B73C1-227D-0AC3-DE5D-FD609FF7D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173" y="4157599"/>
            <a:ext cx="2387289" cy="2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3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997A-F842-C151-B347-3C8443AD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 Solution - Construction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1E52B-A8B2-2C86-39C9-F1B0EE8FE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Build a tree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, where every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corresponds to a cell</a:t>
                </a:r>
                <a:r>
                  <a:rPr lang="he-IL" dirty="0"/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□</a:t>
                </a:r>
                <a14:m>
                  <m:oMath xmlns:m="http://schemas.openxmlformats.org/officeDocument/2006/math">
                    <m:r>
                      <a:rPr lang="en-US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endParaRPr lang="en-US" b="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/>
                  <a:t>the root corresponds to the unit square.</a:t>
                </a:r>
              </a:p>
              <a:p>
                <a:r>
                  <a:rPr lang="en-US" dirty="0"/>
                  <a:t>Each internal node has four children that correspond to the four equal sized squares formed by splitting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□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by horizontal and vertical cuts</a:t>
                </a:r>
              </a:p>
              <a:p>
                <a:r>
                  <a:rPr lang="en-US" dirty="0"/>
                  <a:t>The </a:t>
                </a:r>
                <a:r>
                  <a:rPr lang="en-US" b="1" i="1" dirty="0"/>
                  <a:t>conflict list </a:t>
                </a:r>
                <a:r>
                  <a:rPr lang="en-US" dirty="0"/>
                  <a:t>of the square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□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/>
                  <a:t>(i.e., the square associated with </a:t>
                </a:r>
                <a:r>
                  <a:rPr lang="en-US" i="1" dirty="0"/>
                  <a:t>v</a:t>
                </a:r>
                <a:r>
                  <a:rPr lang="en-US" dirty="0"/>
                  <a:t>) is a list of all the polygons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en-US" dirty="0"/>
                  <a:t> that intersect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b="0" dirty="0"/>
              </a:p>
              <a:p>
                <a:endParaRPr lang="LID4096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1E52B-A8B2-2C86-39C9-F1B0EE8FE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48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0F660-7716-7050-DB3C-084090C36A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3794"/>
                <a:ext cx="10515600" cy="581316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Recursive Construction</a:t>
                </a:r>
              </a:p>
              <a:p>
                <a:r>
                  <a:rPr lang="en-US" sz="2000" dirty="0"/>
                  <a:t>Start at the root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𝑟𝑜𝑜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000" i="1" dirty="0">
                    <a:latin typeface="Cambria Math" panose="02040503050406030204" pitchFamily="18" charset="0"/>
                  </a:rPr>
                  <a:t>)</a:t>
                </a:r>
                <a:endParaRPr lang="en-US" sz="2000" dirty="0"/>
              </a:p>
              <a:p>
                <a:r>
                  <a:rPr lang="en-US" sz="2000" dirty="0"/>
                  <a:t>Compute the conflict list for the current node from its parent’s list.</a:t>
                </a:r>
              </a:p>
              <a:p>
                <a:r>
                  <a:rPr lang="en-US" sz="2000" dirty="0"/>
                  <a:t>Termination Condition: If the conflict list size is small (e.g.,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9</m:t>
                    </m:r>
                  </m:oMath>
                </a14:m>
                <a:r>
                  <a:rPr lang="en-US" sz="2000" dirty="0"/>
                  <a:t> polygons), stop. This node becomes a leaf.</a:t>
                </a:r>
              </a:p>
              <a:p>
                <a:r>
                  <a:rPr lang="en-US" sz="2000" dirty="0"/>
                  <a:t>Otherwise, split the node into four children and recurse.</a:t>
                </a:r>
              </a:p>
              <a:p>
                <a:r>
                  <a:rPr lang="en-US" sz="2000" i="1" dirty="0"/>
                  <a:t>Note: </a:t>
                </a:r>
                <a:r>
                  <a:rPr lang="en-US" sz="2000" dirty="0"/>
                  <a:t>We only store the actual conflict lists at the leaves to save space, by deleting the parent’s list after processing its children.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Point-Location Query:</a:t>
                </a:r>
              </a:p>
              <a:p>
                <a:pPr marL="0" indent="0">
                  <a:buNone/>
                </a:pPr>
                <a:r>
                  <a:rPr lang="en-US" sz="2000" dirty="0"/>
                  <a:t>To identify the polygon containing a query point :</a:t>
                </a:r>
              </a:p>
              <a:p>
                <a:r>
                  <a:rPr lang="en-US" sz="2000" dirty="0"/>
                  <a:t>Start at the root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Traverse down the tree, iteratively moving to the child node whose quadrant contains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(Note that this can be done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Terminate upon reaching a </a:t>
                </a:r>
                <a:r>
                  <a:rPr lang="en-US" sz="2000" b="1" dirty="0"/>
                  <a:t>leaf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Scan the leaf's </a:t>
                </a:r>
                <a:r>
                  <a:rPr lang="en-US" sz="2000" b="1" dirty="0"/>
                  <a:t>conflict list</a:t>
                </a:r>
                <a:r>
                  <a:rPr lang="en-US" sz="2000" dirty="0"/>
                  <a:t> to identify the specific polygon containing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(And this takes also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time.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0F660-7716-7050-DB3C-084090C36A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3794"/>
                <a:ext cx="10515600" cy="5813169"/>
              </a:xfrm>
              <a:blipFill>
                <a:blip r:embed="rId2"/>
                <a:stretch>
                  <a:fillRect l="-638" t="-1469" r="-5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499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united states with red and green squares&#10;&#10;AI-generated content may be incorrect.">
            <a:extLst>
              <a:ext uri="{FF2B5EF4-FFF2-40B4-BE49-F238E27FC236}">
                <a16:creationId xmlns:a16="http://schemas.microsoft.com/office/drawing/2014/main" id="{5317C083-375E-D396-F54E-EA83A3D82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0401" y="484606"/>
            <a:ext cx="4506430" cy="4527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3A62F-CCFF-D568-F7AB-0DDEE00FF56C}"/>
              </a:ext>
            </a:extLst>
          </p:cNvPr>
          <p:cNvSpPr txBox="1"/>
          <p:nvPr/>
        </p:nvSpPr>
        <p:spPr>
          <a:xfrm>
            <a:off x="93518" y="484606"/>
            <a:ext cx="67371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Space Complexity Analysis:</a:t>
            </a:r>
          </a:p>
          <a:p>
            <a:r>
              <a:rPr lang="en-US" b="1" dirty="0"/>
              <a:t>Worst Case: </a:t>
            </a:r>
            <a:r>
              <a:rPr lang="en-US" dirty="0"/>
              <a:t>If polygons are "long and skinny," they may intersect many squares without being fully contained. This can lead to a tree of unbounded depth and complexity.</a:t>
            </a:r>
          </a:p>
          <a:p>
            <a:r>
              <a:rPr lang="en-US" b="1" dirty="0"/>
              <a:t>reasonable Input: </a:t>
            </a:r>
            <a:r>
              <a:rPr lang="en-US" dirty="0"/>
              <a:t>- for reasonable inputs, the complexity of the quadtree will be linear in the size of the input (a proof for fat triangles polygons is shown at the end)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019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955A5-E90B-E9E8-0903-187157108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1727"/>
                <a:ext cx="10515600" cy="586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Fast point-location query in a quadtree</a:t>
                </a:r>
              </a:p>
              <a:p>
                <a:pPr marL="0" indent="0">
                  <a:buNone/>
                </a:pPr>
                <a:r>
                  <a:rPr lang="en-US" sz="2000" dirty="0"/>
                  <a:t>An algorithm for fast query in regular quadtree: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Definition </a:t>
                </a:r>
                <a:r>
                  <a:rPr lang="en-US" sz="2000" dirty="0"/>
                  <a:t>- A square is a </a:t>
                </a:r>
                <a:r>
                  <a:rPr lang="en-US" sz="2000" b="1" dirty="0"/>
                  <a:t>canonical square </a:t>
                </a:r>
                <a:r>
                  <a:rPr lang="en-US" sz="2000" dirty="0"/>
                  <a:t>if it is contained inside the unit square; it is a cell in a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is a power of two (i.e., it might correspond to a node in a quadtree). We will refer to such a grid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/>
                  <a:t> as a canonical grid.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955A5-E90B-E9E8-0903-187157108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1727"/>
                <a:ext cx="10515600" cy="5865236"/>
              </a:xfrm>
              <a:blipFill>
                <a:blip r:embed="rId2"/>
                <a:stretch>
                  <a:fillRect l="-638" t="-9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51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585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Quadtrees – Hierarchical Grids</vt:lpstr>
      <vt:lpstr>Background…</vt:lpstr>
      <vt:lpstr>What are Quadtrees?</vt:lpstr>
      <vt:lpstr>The Point-Location Problem</vt:lpstr>
      <vt:lpstr>The Simple Solution - Construction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Matan Kronfeld</dc:creator>
  <cp:lastModifiedBy>Matan Kronfeld</cp:lastModifiedBy>
  <cp:revision>18</cp:revision>
  <dcterms:created xsi:type="dcterms:W3CDTF">2025-10-30T11:42:56Z</dcterms:created>
  <dcterms:modified xsi:type="dcterms:W3CDTF">2025-11-30T18:38:03Z</dcterms:modified>
</cp:coreProperties>
</file>